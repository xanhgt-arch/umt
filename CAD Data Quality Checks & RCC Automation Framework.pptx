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9" Type="http://schemas.openxmlformats.org/officeDocument/2006/relationships/image" Target="../media/image95.png"/><Relationship Id="rId21" Type="http://schemas.openxmlformats.org/officeDocument/2006/relationships/image" Target="../media/image77.png"/><Relationship Id="rId34" Type="http://schemas.openxmlformats.org/officeDocument/2006/relationships/image" Target="../media/image90.png"/><Relationship Id="rId42" Type="http://schemas.openxmlformats.org/officeDocument/2006/relationships/image" Target="../media/image98.png"/><Relationship Id="rId47" Type="http://schemas.openxmlformats.org/officeDocument/2006/relationships/image" Target="../media/image103.png"/><Relationship Id="rId50" Type="http://schemas.openxmlformats.org/officeDocument/2006/relationships/image" Target="../media/image106.png"/><Relationship Id="rId55" Type="http://schemas.openxmlformats.org/officeDocument/2006/relationships/image" Target="../media/image111.png"/><Relationship Id="rId63" Type="http://schemas.openxmlformats.org/officeDocument/2006/relationships/image" Target="../media/image119.png"/><Relationship Id="rId68" Type="http://schemas.openxmlformats.org/officeDocument/2006/relationships/image" Target="../media/image124.png"/><Relationship Id="rId7" Type="http://schemas.openxmlformats.org/officeDocument/2006/relationships/image" Target="../media/image63.png"/><Relationship Id="rId71" Type="http://schemas.openxmlformats.org/officeDocument/2006/relationships/image" Target="../media/image127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9" Type="http://schemas.openxmlformats.org/officeDocument/2006/relationships/image" Target="../media/image85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37" Type="http://schemas.openxmlformats.org/officeDocument/2006/relationships/image" Target="../media/image93.png"/><Relationship Id="rId40" Type="http://schemas.openxmlformats.org/officeDocument/2006/relationships/image" Target="../media/image96.png"/><Relationship Id="rId45" Type="http://schemas.openxmlformats.org/officeDocument/2006/relationships/image" Target="../media/image101.png"/><Relationship Id="rId53" Type="http://schemas.openxmlformats.org/officeDocument/2006/relationships/image" Target="../media/image109.png"/><Relationship Id="rId58" Type="http://schemas.openxmlformats.org/officeDocument/2006/relationships/image" Target="../media/image114.png"/><Relationship Id="rId66" Type="http://schemas.openxmlformats.org/officeDocument/2006/relationships/image" Target="../media/image122.png"/><Relationship Id="rId74" Type="http://schemas.openxmlformats.org/officeDocument/2006/relationships/image" Target="../media/image130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36" Type="http://schemas.openxmlformats.org/officeDocument/2006/relationships/image" Target="../media/image92.png"/><Relationship Id="rId49" Type="http://schemas.openxmlformats.org/officeDocument/2006/relationships/image" Target="../media/image105.png"/><Relationship Id="rId57" Type="http://schemas.openxmlformats.org/officeDocument/2006/relationships/image" Target="../media/image113.png"/><Relationship Id="rId61" Type="http://schemas.openxmlformats.org/officeDocument/2006/relationships/image" Target="../media/image117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31" Type="http://schemas.openxmlformats.org/officeDocument/2006/relationships/image" Target="../media/image87.png"/><Relationship Id="rId44" Type="http://schemas.openxmlformats.org/officeDocument/2006/relationships/image" Target="../media/image100.png"/><Relationship Id="rId52" Type="http://schemas.openxmlformats.org/officeDocument/2006/relationships/image" Target="../media/image108.png"/><Relationship Id="rId60" Type="http://schemas.openxmlformats.org/officeDocument/2006/relationships/image" Target="../media/image116.png"/><Relationship Id="rId65" Type="http://schemas.openxmlformats.org/officeDocument/2006/relationships/image" Target="../media/image121.png"/><Relationship Id="rId73" Type="http://schemas.openxmlformats.org/officeDocument/2006/relationships/image" Target="../media/image129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Relationship Id="rId43" Type="http://schemas.openxmlformats.org/officeDocument/2006/relationships/image" Target="../media/image99.png"/><Relationship Id="rId48" Type="http://schemas.openxmlformats.org/officeDocument/2006/relationships/image" Target="../media/image104.png"/><Relationship Id="rId56" Type="http://schemas.openxmlformats.org/officeDocument/2006/relationships/image" Target="../media/image112.png"/><Relationship Id="rId64" Type="http://schemas.openxmlformats.org/officeDocument/2006/relationships/image" Target="../media/image120.png"/><Relationship Id="rId69" Type="http://schemas.openxmlformats.org/officeDocument/2006/relationships/image" Target="../media/image125.png"/><Relationship Id="rId8" Type="http://schemas.openxmlformats.org/officeDocument/2006/relationships/image" Target="../media/image64.png"/><Relationship Id="rId51" Type="http://schemas.openxmlformats.org/officeDocument/2006/relationships/image" Target="../media/image107.png"/><Relationship Id="rId72" Type="http://schemas.openxmlformats.org/officeDocument/2006/relationships/image" Target="../media/image128.png"/><Relationship Id="rId3" Type="http://schemas.openxmlformats.org/officeDocument/2006/relationships/image" Target="../media/image59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image" Target="../media/image94.png"/><Relationship Id="rId46" Type="http://schemas.openxmlformats.org/officeDocument/2006/relationships/image" Target="../media/image102.png"/><Relationship Id="rId59" Type="http://schemas.openxmlformats.org/officeDocument/2006/relationships/image" Target="../media/image115.png"/><Relationship Id="rId67" Type="http://schemas.openxmlformats.org/officeDocument/2006/relationships/image" Target="../media/image123.png"/><Relationship Id="rId20" Type="http://schemas.openxmlformats.org/officeDocument/2006/relationships/image" Target="../media/image76.png"/><Relationship Id="rId41" Type="http://schemas.openxmlformats.org/officeDocument/2006/relationships/image" Target="../media/image97.png"/><Relationship Id="rId54" Type="http://schemas.openxmlformats.org/officeDocument/2006/relationships/image" Target="../media/image110.png"/><Relationship Id="rId62" Type="http://schemas.openxmlformats.org/officeDocument/2006/relationships/image" Target="../media/image118.png"/><Relationship Id="rId70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790" y="1600200"/>
            <a:ext cx="10572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742" y="2185987"/>
            <a:ext cx="11906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2238" y="2659856"/>
            <a:ext cx="1209675" cy="20955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" y="895350"/>
            <a:ext cx="5724525" cy="27948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880691"/>
            <a:ext cx="7128569" cy="252963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6719" y="3880691"/>
            <a:ext cx="4320480" cy="252963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315" y="3028951"/>
            <a:ext cx="5362575" cy="3960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172200" y="1260247"/>
            <a:ext cx="5705475" cy="2366579"/>
          </a:xfrm>
          <a:prstGeom prst="rect">
            <a:avLst/>
          </a:prstGeom>
          <a:ln>
            <a:solidFill>
              <a:schemeClr val="tx1"/>
            </a:solidFill>
          </a:ln>
          <a:effectLst>
            <a:softEdge rad="112500"/>
          </a:effectLst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160" y="1576388"/>
            <a:ext cx="5362575" cy="409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4533900"/>
            <a:ext cx="1634430" cy="1733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96405" y="4533900"/>
            <a:ext cx="1634579" cy="1733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7184" y="4533900"/>
            <a:ext cx="1634430" cy="1733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7815" y="4533900"/>
            <a:ext cx="1634579" cy="1733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47694" y="4560093"/>
            <a:ext cx="1950690" cy="53101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5534" y="4560093"/>
            <a:ext cx="1950690" cy="531018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47694" y="5148262"/>
            <a:ext cx="1950690" cy="53101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5534" y="5148262"/>
            <a:ext cx="1950690" cy="531018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47694" y="5736431"/>
            <a:ext cx="1950690" cy="531018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55534" y="5736431"/>
            <a:ext cx="1950690" cy="531018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6448425"/>
            <a:ext cx="11582400" cy="2381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4800" y="6534150"/>
            <a:ext cx="381952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Plus Jakarta Sans"/>
              </a:rPr>
              <a:t>© Copyright 2026 Tata Technologies. All rights reserved.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700" y="6553200"/>
            <a:ext cx="28575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 dirty="0">
                <a:solidFill>
                  <a:srgbClr val="94A3B8"/>
                </a:solidFill>
                <a:latin typeface="Plus Jakarta Sans"/>
              </a:rPr>
              <a:t>Dassault </a:t>
            </a:r>
            <a:r>
              <a:rPr sz="750" b="0" i="0" u="none" dirty="0" err="1">
                <a:solidFill>
                  <a:srgbClr val="94A3B8"/>
                </a:solidFill>
                <a:latin typeface="Plus Jakarta Sans"/>
              </a:rPr>
              <a:t>Systèmes</a:t>
            </a:r>
            <a:r>
              <a:rPr sz="750" b="0" i="0" u="none" dirty="0">
                <a:solidFill>
                  <a:srgbClr val="94A3B8"/>
                </a:solidFill>
                <a:latin typeface="Plus Jakarta Sans"/>
              </a:rPr>
              <a:t> 3DEXPERIENCE® Quality Rules Designer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" y="228600"/>
            <a:ext cx="735935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RCC (</a:t>
            </a:r>
            <a:r>
              <a:rPr sz="1650" b="1" i="0" u="none">
                <a:solidFill>
                  <a:srgbClr val="0284C7"/>
                </a:solidFill>
                <a:latin typeface="Space Grotesk"/>
              </a:rPr>
              <a:t>Rule Checks &amp; Compliance</a:t>
            </a:r>
            <a:r>
              <a:rPr sz="1650" b="1" i="0" u="none">
                <a:solidFill>
                  <a:srgbClr val="0F172A"/>
                </a:solidFill>
                <a:latin typeface="Space Grotesk"/>
              </a:rPr>
              <a:t>) – Automation Framework &amp; Benefits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514350"/>
            <a:ext cx="700891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Medium"/>
              </a:rPr>
              <a:t>Automated Vehicle Assembly Validation &amp; Multi-Format Compliance Engine using Dassault Systèmes 3DEXPERIENCE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44137" y="366712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72737" y="361950"/>
            <a:ext cx="12715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04B87"/>
                </a:solidFill>
                <a:latin typeface="Space Grotesk"/>
              </a:rPr>
              <a:t>TATA TECHNOLOGIES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52750" y="6534150"/>
            <a:ext cx="1171575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871" y="3975943"/>
            <a:ext cx="266700" cy="2667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1771" y="4023568"/>
            <a:ext cx="308741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TECHNOLOGIES USED (AUTOMATION PIPELINE)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66743" y="3964781"/>
            <a:ext cx="266700" cy="2667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09643" y="4012406"/>
            <a:ext cx="133126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BUSINESS BENEFITS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5775" y="1028700"/>
            <a:ext cx="266700" cy="2667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8675" y="1076325"/>
            <a:ext cx="25034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Space Grotesk"/>
              </a:rPr>
              <a:t>PROJECT CONTEXT &amp; SERVICE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935" y="1662113"/>
            <a:ext cx="167952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475569"/>
                </a:solidFill>
                <a:latin typeface="Plus Jakarta Sans"/>
              </a:rPr>
              <a:t>Project</a:t>
            </a:r>
            <a:r>
              <a:rPr sz="8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endParaRPr lang="en-US" sz="825" b="0" i="0" u="none" dirty="0">
              <a:solidFill>
                <a:srgbClr val="1E293B"/>
              </a:solidFill>
              <a:latin typeface="Plus Jakarta Sans"/>
            </a:endParaRPr>
          </a:p>
          <a:p>
            <a:pPr algn="l"/>
            <a:r>
              <a:rPr sz="825" b="0" i="0" u="none" dirty="0">
                <a:solidFill>
                  <a:srgbClr val="0F172A"/>
                </a:solidFill>
                <a:latin typeface="Plus Jakarta Sans SemiBold"/>
              </a:rPr>
              <a:t>CAD Data Quality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17610" y="1662113"/>
            <a:ext cx="167952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475569"/>
                </a:solidFill>
                <a:latin typeface="Plus Jakarta Sans"/>
              </a:rPr>
              <a:t>Customer</a:t>
            </a:r>
            <a:r>
              <a:rPr sz="8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endParaRPr lang="en-US" sz="825" b="0" i="0" u="none" dirty="0">
              <a:solidFill>
                <a:srgbClr val="1E293B"/>
              </a:solidFill>
              <a:latin typeface="Plus Jakarta Sans"/>
            </a:endParaRPr>
          </a:p>
          <a:p>
            <a:pPr algn="l"/>
            <a:r>
              <a:rPr sz="825" b="0" i="0" u="none" dirty="0">
                <a:solidFill>
                  <a:srgbClr val="0F172A"/>
                </a:solidFill>
                <a:latin typeface="Plus Jakarta Sans SemiBold"/>
              </a:rPr>
              <a:t>Vehicle 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4285" y="1662113"/>
            <a:ext cx="167952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475569"/>
                </a:solidFill>
                <a:latin typeface="Plus Jakarta Sans"/>
              </a:rPr>
              <a:t>Platform</a:t>
            </a:r>
            <a:r>
              <a:rPr sz="825" b="0" i="0" u="none" dirty="0">
                <a:solidFill>
                  <a:srgbClr val="1E293B"/>
                </a:solidFill>
                <a:latin typeface="Plus Jakarta Sans"/>
              </a:rPr>
              <a:t> </a:t>
            </a:r>
            <a:endParaRPr lang="en-US" sz="825" b="0" i="0" u="none" dirty="0">
              <a:solidFill>
                <a:srgbClr val="1E293B"/>
              </a:solidFill>
              <a:latin typeface="Plus Jakarta Sans"/>
            </a:endParaRPr>
          </a:p>
          <a:p>
            <a:pPr algn="l"/>
            <a:r>
              <a:rPr sz="825" b="0" i="0" u="none" dirty="0">
                <a:solidFill>
                  <a:srgbClr val="0F172A"/>
                </a:solidFill>
                <a:latin typeface="Plus Jakarta Sans SemiBold"/>
              </a:rPr>
              <a:t>3DEXPERIENCE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192018"/>
            <a:ext cx="2481262" cy="1361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 dirty="0">
                <a:solidFill>
                  <a:srgbClr val="334155"/>
                </a:solidFill>
                <a:latin typeface="Plus Jakarta Sans"/>
              </a:rPr>
              <a:t>Collect &amp; assemble CAD from multi-suppliers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14712" y="2192018"/>
            <a:ext cx="2481262" cy="1361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Plus Jakarta Sans"/>
              </a:rPr>
              <a:t>Validate assemblies against architecture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66295"/>
            <a:ext cx="2481262" cy="1361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 dirty="0">
                <a:solidFill>
                  <a:srgbClr val="334155"/>
                </a:solidFill>
                <a:latin typeface="Plus Jakarta Sans"/>
              </a:rPr>
              <a:t>Interference &amp; Clash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14712" y="2366295"/>
            <a:ext cx="2481262" cy="1361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Plus Jakarta Sans"/>
              </a:rPr>
              <a:t>Ergonomic checks using Digital Mannequins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540573"/>
            <a:ext cx="2481262" cy="1361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Plus Jakarta Sans"/>
              </a:rPr>
              <a:t>Clearance &amp; Contact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14712" y="2540573"/>
            <a:ext cx="2481262" cy="1361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Plus Jakarta Sans"/>
              </a:rPr>
              <a:t>Early issue correction before plant release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1052" y="3150692"/>
            <a:ext cx="152400" cy="152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69652" y="3095626"/>
            <a:ext cx="1628775" cy="262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89"/>
              </a:lnSpc>
            </a:pPr>
            <a:r>
              <a:rPr sz="825" b="1" i="0" u="none">
                <a:solidFill>
                  <a:srgbClr val="0C4A6E"/>
                </a:solidFill>
                <a:latin typeface="Plus Jakarta Sans"/>
              </a:rPr>
              <a:t>1,000+ Automated Checks</a:t>
            </a:r>
            <a:r>
              <a:t>
</a:t>
            </a:r>
            <a:r>
              <a:rPr sz="825" b="0" i="0" u="none">
                <a:solidFill>
                  <a:srgbClr val="0369A1"/>
                </a:solidFill>
                <a:latin typeface="Plus Jakarta Sans"/>
              </a:rPr>
              <a:t> Roadmap target: 2,000+ checks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5702" y="3095626"/>
            <a:ext cx="1314450" cy="262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89"/>
              </a:lnSpc>
            </a:pPr>
            <a:r>
              <a:rPr sz="825" b="1" i="0" u="none">
                <a:solidFill>
                  <a:srgbClr val="0C4A6E"/>
                </a:solidFill>
                <a:latin typeface="Plus Jakarta Sans"/>
              </a:rPr>
              <a:t>Effort Cut by 95%</a:t>
            </a:r>
            <a:r>
              <a:t>
</a:t>
            </a:r>
            <a:r>
              <a:rPr sz="825" b="0" i="0" u="none">
                <a:solidFill>
                  <a:srgbClr val="0369A1"/>
                </a:solidFill>
                <a:latin typeface="Plus Jakarta Sans"/>
              </a:rPr>
              <a:t> From months to a few days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990600"/>
            <a:ext cx="114300" cy="11430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0240565" y="1676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335517" y="2262187"/>
            <a:ext cx="57150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917013" y="2736056"/>
            <a:ext cx="57150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5546" y="4042618"/>
            <a:ext cx="133350" cy="1333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90550" y="4638675"/>
            <a:ext cx="876300" cy="1428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62000" y="4838700"/>
            <a:ext cx="125343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 dirty="0">
                <a:solidFill>
                  <a:srgbClr val="0284C7"/>
                </a:solidFill>
                <a:latin typeface="Plus Jakarta Sans"/>
              </a:rPr>
              <a:t>EKL Scripting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01180" y="4638675"/>
            <a:ext cx="1047750" cy="1428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453580" y="4838700"/>
            <a:ext cx="1272629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Plus Jakarta Sans"/>
              </a:rPr>
              <a:t>Visual Scripting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011959" y="4638675"/>
            <a:ext cx="914400" cy="14287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154834" y="4838700"/>
            <a:ext cx="1282005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Plus Jakarta Sans"/>
              </a:rPr>
              <a:t>EKL Scripting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22590" y="4638675"/>
            <a:ext cx="1057275" cy="14287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836890" y="4838700"/>
            <a:ext cx="1310729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Plus Jakarta Sans"/>
              </a:rPr>
              <a:t>VBA Automation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47706" y="4031456"/>
            <a:ext cx="104775" cy="1333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33419" y="4645818"/>
            <a:ext cx="247650" cy="2476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841259" y="4645818"/>
            <a:ext cx="247650" cy="24765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33419" y="5233987"/>
            <a:ext cx="247650" cy="2476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841259" y="5233987"/>
            <a:ext cx="247650" cy="24765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33419" y="5822156"/>
            <a:ext cx="247650" cy="24765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841259" y="5822156"/>
            <a:ext cx="247650" cy="2476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52450" y="1095375"/>
            <a:ext cx="133350" cy="1333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90550" y="4848225"/>
            <a:ext cx="133350" cy="10477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85800" y="5019675"/>
            <a:ext cx="132963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Access assembly &amp; CAD data from 3DEXPERIENCE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5314950"/>
            <a:ext cx="132963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Execute compliance checks &amp; validations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610225"/>
            <a:ext cx="132963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Generate automated 3D validation reports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26790" y="5981700"/>
            <a:ext cx="152400" cy="17145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301180" y="4848225"/>
            <a:ext cx="114300" cy="104775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396430" y="5019675"/>
            <a:ext cx="13297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Construct visual validation workflows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96430" y="5314950"/>
            <a:ext cx="13297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Execute assembly rule checks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6430" y="5610225"/>
            <a:ext cx="13297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Perform automated compliance verification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904083" y="5981700"/>
            <a:ext cx="219075" cy="17145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011959" y="4848225"/>
            <a:ext cx="104775" cy="10477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107209" y="5019675"/>
            <a:ext cx="132963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Generate interactive 3D validation reports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07209" y="5314950"/>
            <a:ext cx="132963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Capture issue references &amp; screenshots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07209" y="5610225"/>
            <a:ext cx="1329630" cy="128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Maintain geometry context</a:t>
            </a:r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638675" y="5981700"/>
            <a:ext cx="171450" cy="171450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722590" y="4848225"/>
            <a:ext cx="76200" cy="104775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817840" y="5019675"/>
            <a:ext cx="13297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Generate Excel compliance reports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17840" y="5314950"/>
            <a:ext cx="13297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Summarize rule validation results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17840" y="5610225"/>
            <a:ext cx="13297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Plus Jakarta Sans"/>
              </a:rPr>
              <a:t>Provide issue tracking information</a:t>
            </a:r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349305" y="5981700"/>
            <a:ext cx="171450" cy="17145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885807" y="4712493"/>
            <a:ext cx="142875" cy="1143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157269" y="4645818"/>
            <a:ext cx="145539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0F172A"/>
                </a:solidFill>
                <a:latin typeface="Plus Jakarta Sans"/>
              </a:rPr>
              <a:t>Automated Validation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57269" y="4779168"/>
            <a:ext cx="1455390" cy="226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 dirty="0">
                <a:solidFill>
                  <a:srgbClr val="64748B"/>
                </a:solidFill>
                <a:latin typeface="Plus Jakarta Sans"/>
              </a:rPr>
              <a:t>Automated checks of complex vehicle assemblies.</a:t>
            </a:r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907934" y="4712493"/>
            <a:ext cx="114300" cy="11430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165109" y="4645818"/>
            <a:ext cx="14553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Reduced Effort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65109" y="4779168"/>
            <a:ext cx="145539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>
                <a:solidFill>
                  <a:srgbClr val="64748B"/>
                </a:solidFill>
                <a:latin typeface="Plus Jakarta Sans"/>
              </a:rPr>
              <a:t>Significant cut in manual review effort.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900094" y="5300662"/>
            <a:ext cx="114300" cy="1143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57269" y="5233987"/>
            <a:ext cx="14553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Standardized Process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57269" y="5367337"/>
            <a:ext cx="145539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>
                <a:solidFill>
                  <a:srgbClr val="64748B"/>
                </a:solidFill>
                <a:latin typeface="Plus Jakarta Sans"/>
              </a:rPr>
              <a:t>Repeatable, profile-driven validation.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912697" y="5300662"/>
            <a:ext cx="104775" cy="1143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165109" y="5233987"/>
            <a:ext cx="14553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Faster Decisions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65109" y="5367337"/>
            <a:ext cx="145539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>
                <a:solidFill>
                  <a:srgbClr val="64748B"/>
                </a:solidFill>
                <a:latin typeface="Plus Jakarta Sans"/>
              </a:rPr>
              <a:t>Audit-ready Excel &amp; 3D reports for release.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57269" y="5822156"/>
            <a:ext cx="14553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Improved Quality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57269" y="5955506"/>
            <a:ext cx="145539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>
                <a:solidFill>
                  <a:srgbClr val="64748B"/>
                </a:solidFill>
                <a:latin typeface="Plus Jakarta Sans"/>
              </a:rPr>
              <a:t>Higher CAD data quality before plant release.</a:t>
            </a:r>
          </a:p>
        </p:txBody>
      </p:sp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907934" y="5888831"/>
            <a:ext cx="114300" cy="11430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165109" y="5822156"/>
            <a:ext cx="14553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Early Issue Detection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65109" y="5955506"/>
            <a:ext cx="1455390" cy="226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>
                <a:solidFill>
                  <a:srgbClr val="64748B"/>
                </a:solidFill>
                <a:latin typeface="Plus Jakarta Sans"/>
              </a:rPr>
              <a:t>Catches clashes &amp; ergonomic issues early.</a:t>
            </a:r>
          </a:p>
        </p:txBody>
      </p:sp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33400" y="2212407"/>
            <a:ext cx="95250" cy="95250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262312" y="2212407"/>
            <a:ext cx="95250" cy="95250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33400" y="2386685"/>
            <a:ext cx="95250" cy="95250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262312" y="2386685"/>
            <a:ext cx="95250" cy="95250"/>
          </a:xfrm>
          <a:prstGeom prst="rect">
            <a:avLst/>
          </a:prstGeom>
        </p:spPr>
      </p:pic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33400" y="2560962"/>
            <a:ext cx="95250" cy="95250"/>
          </a:xfrm>
          <a:prstGeom prst="rect">
            <a:avLst/>
          </a:prstGeom>
        </p:spPr>
      </p:pic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262312" y="2560962"/>
            <a:ext cx="95250" cy="9525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590550" y="501967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0550" y="5314950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0550" y="561022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01180" y="501967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01180" y="5314950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01180" y="561022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11959" y="501967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11959" y="5314950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11959" y="561022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722590" y="501967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22590" y="5314950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22590" y="5610225"/>
            <a:ext cx="66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172200" y="895350"/>
            <a:ext cx="5705475" cy="314325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BE217580-77A9-B5A6-DBDB-BB6BA4B8D56A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903889" y="5903118"/>
            <a:ext cx="104775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800"/>
            <a:ext cx="6692651" cy="25571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501" y="685800"/>
            <a:ext cx="4946898" cy="1952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41094"/>
            <a:ext cx="7482482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332" y="3541094"/>
            <a:ext cx="4157067" cy="2476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" y="2114550"/>
            <a:ext cx="6406901" cy="9074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6026" y="923925"/>
            <a:ext cx="4927848" cy="19335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1057275"/>
            <a:ext cx="6406901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5853" y="1155948"/>
            <a:ext cx="92392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7677" y="1658540"/>
            <a:ext cx="119062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0480" y="1999803"/>
            <a:ext cx="119062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475" y="3903044"/>
            <a:ext cx="1393626" cy="2009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2251" y="3903044"/>
            <a:ext cx="1393626" cy="20097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73028" y="3903044"/>
            <a:ext cx="1393626" cy="2009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3804" y="3903044"/>
            <a:ext cx="1393626" cy="2009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4581" y="3903044"/>
            <a:ext cx="1393626" cy="2009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49207" y="3903044"/>
            <a:ext cx="1911846" cy="638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08678" y="3903044"/>
            <a:ext cx="1911846" cy="638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49207" y="4588844"/>
            <a:ext cx="1911846" cy="638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08678" y="4588844"/>
            <a:ext cx="1911846" cy="6381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49207" y="5274644"/>
            <a:ext cx="1911846" cy="6381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08678" y="5274644"/>
            <a:ext cx="1911846" cy="6381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7675" y="5103933"/>
            <a:ext cx="1260276" cy="571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88926" y="5142415"/>
            <a:ext cx="1260276" cy="571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39703" y="5142415"/>
            <a:ext cx="1260276" cy="571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90479" y="5142415"/>
            <a:ext cx="1260276" cy="571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41256" y="5142415"/>
            <a:ext cx="1260276" cy="571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8600" y="6229350"/>
            <a:ext cx="11734800" cy="3048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28600" y="6562725"/>
            <a:ext cx="11734800" cy="2000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00150" y="6325195"/>
            <a:ext cx="9715500" cy="1131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 dirty="0">
                <a:solidFill>
                  <a:srgbClr val="CBD5E1"/>
                </a:solidFill>
                <a:latin typeface="Plus Jakarta Sans"/>
              </a:rPr>
              <a:t>Established a standardized, automated CAD data quality validation framework within 3DEXPERIENCE, enabling consistent rule-based verification, improved traceability, reduced manual effort, and enhanced engineering data quality.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6619875"/>
            <a:ext cx="341947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75" b="0" i="0" u="none">
                <a:solidFill>
                  <a:srgbClr val="94A3B8"/>
                </a:solidFill>
                <a:latin typeface="Plus Jakarta Sans"/>
              </a:rPr>
              <a:t>© Copyright 2026 Tata Technologies. All rights reserved.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6400" y="6638925"/>
            <a:ext cx="26670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5" b="0" i="0" u="none">
                <a:solidFill>
                  <a:srgbClr val="94A3B8"/>
                </a:solidFill>
                <a:latin typeface="Plus Jakarta Sans"/>
              </a:rPr>
              <a:t>Dassault Systèmes 3DEXPERIENCE® Quality Rules Designer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152400"/>
            <a:ext cx="5339886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Space Grotesk"/>
              </a:rPr>
              <a:t>CAD Data Quality Checks </a:t>
            </a:r>
            <a:r>
              <a:rPr sz="1575" b="1" i="0" u="none">
                <a:solidFill>
                  <a:srgbClr val="0284C7"/>
                </a:solidFill>
                <a:latin typeface="Space Grotesk"/>
              </a:rPr>
              <a:t>— 3DEXPERIENCE Framework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428625"/>
            <a:ext cx="508560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Automated PLM Rule-Based Validation &amp; Business Benefits for Automotive Vehicle Assembly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82262" y="276225"/>
            <a:ext cx="15240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10862" y="285750"/>
            <a:ext cx="112871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04B87"/>
                </a:solidFill>
                <a:latin typeface="Space Grotesk"/>
              </a:rPr>
              <a:t>TATA TECHNOLOGIES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8625" y="6336506"/>
            <a:ext cx="109537" cy="9048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5787" y="6324600"/>
            <a:ext cx="44291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FFFFFF"/>
                </a:solidFill>
                <a:latin typeface="Space Grotesk"/>
              </a:rPr>
              <a:t>OUTCOME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28900" y="6619875"/>
            <a:ext cx="1019175" cy="14287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7016501" y="923925"/>
            <a:ext cx="4956423" cy="2319066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1475" y="3645869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6275" y="3679206"/>
            <a:ext cx="360857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pace Grotesk"/>
              </a:rPr>
              <a:t>CAD DATA QUALITY CHECKS — TECHNOLOGY FRAMEWORK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949207" y="3645869"/>
            <a:ext cx="228600" cy="228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54007" y="3679206"/>
            <a:ext cx="127125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pace Grotesk"/>
              </a:rPr>
              <a:t>BUSINESS BENEFITS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71475" y="790575"/>
            <a:ext cx="228600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6275" y="823912"/>
            <a:ext cx="236638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pace Grotesk"/>
              </a:rPr>
              <a:t>PROJECT OVERVIEW &amp; SERVICE SCOPE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114425"/>
            <a:ext cx="20402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64748B"/>
                </a:solidFill>
                <a:latin typeface="Plus Jakarta Sans"/>
              </a:rPr>
              <a:t>Project</a:t>
            </a:r>
            <a:r>
              <a:rPr sz="75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endParaRPr lang="en-US" sz="750" b="0" i="0" u="none" dirty="0">
              <a:solidFill>
                <a:srgbClr val="1E293B"/>
              </a:solidFill>
              <a:latin typeface="Plus Jakarta Sans"/>
            </a:endParaRPr>
          </a:p>
          <a:p>
            <a:pPr algn="l"/>
            <a:r>
              <a:rPr sz="750" b="1" i="0" u="none" dirty="0">
                <a:solidFill>
                  <a:srgbClr val="0F172A"/>
                </a:solidFill>
                <a:latin typeface="Plus Jakarta Sans"/>
              </a:rPr>
              <a:t>CAD Data 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54634" y="1114425"/>
            <a:ext cx="204043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64748B"/>
                </a:solidFill>
                <a:latin typeface="Plus Jakarta Sans"/>
              </a:rPr>
              <a:t>Customer</a:t>
            </a:r>
            <a:r>
              <a:rPr sz="75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endParaRPr lang="en-US" sz="750" b="0" i="0" u="none" dirty="0">
              <a:solidFill>
                <a:srgbClr val="1E293B"/>
              </a:solidFill>
              <a:latin typeface="Plus Jakarta Sans"/>
            </a:endParaRPr>
          </a:p>
          <a:p>
            <a:pPr algn="l"/>
            <a:r>
              <a:rPr sz="750" b="1" i="0" u="none" dirty="0">
                <a:solidFill>
                  <a:srgbClr val="0F172A"/>
                </a:solidFill>
                <a:latin typeface="Plus Jakarta Sans"/>
              </a:rPr>
              <a:t>American Automaker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2218" y="1114425"/>
            <a:ext cx="204043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64748B"/>
                </a:solidFill>
                <a:latin typeface="Plus Jakarta Sans"/>
              </a:rPr>
              <a:t>Platform</a:t>
            </a:r>
            <a:r>
              <a:rPr sz="75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endParaRPr lang="en-US" sz="750" b="0" i="0" u="none" dirty="0">
              <a:solidFill>
                <a:srgbClr val="1E293B"/>
              </a:solidFill>
              <a:latin typeface="Plus Jakarta Sans"/>
            </a:endParaRPr>
          </a:p>
          <a:p>
            <a:pPr algn="l"/>
            <a:r>
              <a:rPr sz="750" b="1" i="0" u="none" dirty="0">
                <a:solidFill>
                  <a:srgbClr val="0F172A"/>
                </a:solidFill>
                <a:latin typeface="Plus Jakarta Sans"/>
              </a:rPr>
              <a:t>Quality Rules Designer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4350" y="1649290"/>
            <a:ext cx="3003351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0" i="0" u="none">
                <a:solidFill>
                  <a:srgbClr val="334155"/>
                </a:solidFill>
                <a:latin typeface="Plus Jakarta Sans"/>
              </a:rPr>
              <a:t>Profile creation using Profile Manager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74876" y="1649290"/>
            <a:ext cx="30035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0" i="0" u="none" dirty="0">
                <a:solidFill>
                  <a:srgbClr val="334155"/>
                </a:solidFill>
                <a:latin typeface="Plus Jakarta Sans"/>
              </a:rPr>
              <a:t>Object-type specific validation rules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4350" y="1792165"/>
            <a:ext cx="3003351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0" i="0" u="none">
                <a:solidFill>
                  <a:srgbClr val="334155"/>
                </a:solidFill>
                <a:latin typeface="Plus Jakarta Sans"/>
              </a:rPr>
              <a:t>Automated quality report generation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74876" y="1792165"/>
            <a:ext cx="30035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0" i="0" u="none" dirty="0">
                <a:solidFill>
                  <a:srgbClr val="334155"/>
                </a:solidFill>
                <a:latin typeface="Plus Jakarta Sans"/>
              </a:rPr>
              <a:t>Results saved for historical reference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57200" y="2257425"/>
            <a:ext cx="171450" cy="13335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2171700"/>
            <a:ext cx="723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369A1"/>
                </a:solidFill>
                <a:latin typeface="Plus Jakarta Sans"/>
              </a:rPr>
              <a:t>Rule Validation</a:t>
            </a:r>
            <a:r>
              <a:rPr sz="1200" b="0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 dirty="0">
                <a:solidFill>
                  <a:srgbClr val="0C4A6E"/>
                </a:solidFill>
                <a:latin typeface="Plus Jakarta Sans SemiBold"/>
              </a:rPr>
              <a:t>Automated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030313" y="2257425"/>
            <a:ext cx="152400" cy="1333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239863" y="2171700"/>
            <a:ext cx="752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Quality Reports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C4A6E"/>
                </a:solidFill>
                <a:latin typeface="Plus Jakarta Sans SemiBold"/>
              </a:rPr>
              <a:t>One-Click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603426" y="2257425"/>
            <a:ext cx="114300" cy="1333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774876" y="2171700"/>
            <a:ext cx="790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Data Traceability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C4A6E"/>
                </a:solidFill>
                <a:latin typeface="Plus Jakarta Sans SemiBold"/>
              </a:rPr>
              <a:t>Fully Tracked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176539" y="2257425"/>
            <a:ext cx="114300" cy="1333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347989" y="2171700"/>
            <a:ext cx="809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lus Jakarta Sans"/>
              </a:rPr>
              <a:t>Reusable Profiles</a:t>
            </a:r>
            <a:r>
              <a:rPr sz="1200" b="0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C4A6E"/>
                </a:solidFill>
                <a:latin typeface="Plus Jakarta Sans SemiBold"/>
              </a:rPr>
              <a:t>Standardized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121276" y="754856"/>
            <a:ext cx="104775" cy="10001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19100" y="3703019"/>
            <a:ext cx="133350" cy="1143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020645" y="3703019"/>
            <a:ext cx="85725" cy="1143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025407" y="4117356"/>
            <a:ext cx="209550" cy="2095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984878" y="4117356"/>
            <a:ext cx="209550" cy="20955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025407" y="4803156"/>
            <a:ext cx="209550" cy="20955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984878" y="4803156"/>
            <a:ext cx="209550" cy="20955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025407" y="5488956"/>
            <a:ext cx="209550" cy="20955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984878" y="5488956"/>
            <a:ext cx="209550" cy="20955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19100" y="847725"/>
            <a:ext cx="133350" cy="1143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38150" y="4036394"/>
            <a:ext cx="876300" cy="13335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61975" y="4322240"/>
            <a:ext cx="1126926" cy="1095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862"/>
              </a:lnSpc>
            </a:pPr>
            <a:r>
              <a:rPr sz="750" b="1" i="0" u="none" dirty="0">
                <a:solidFill>
                  <a:srgbClr val="0284C7"/>
                </a:solidFill>
                <a:latin typeface="Space Grotesk"/>
              </a:rPr>
              <a:t>Setup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888926" y="4036394"/>
            <a:ext cx="752475" cy="13335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012751" y="4329043"/>
            <a:ext cx="1136451" cy="1095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862"/>
              </a:lnSpc>
            </a:pPr>
            <a:r>
              <a:rPr sz="750" b="1" i="0" u="none">
                <a:solidFill>
                  <a:srgbClr val="0284C7"/>
                </a:solidFill>
                <a:latin typeface="Space Grotesk"/>
              </a:rPr>
              <a:t>Rules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339703" y="4036394"/>
            <a:ext cx="819150" cy="13335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473053" y="4329043"/>
            <a:ext cx="1126926" cy="1095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862"/>
              </a:lnSpc>
            </a:pPr>
            <a:r>
              <a:rPr sz="750" b="1" i="0" u="none" dirty="0">
                <a:solidFill>
                  <a:srgbClr val="0284C7"/>
                </a:solidFill>
                <a:latin typeface="Space Grotesk"/>
              </a:rPr>
              <a:t>Execution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790479" y="4036394"/>
            <a:ext cx="647700" cy="13335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4933354" y="4329043"/>
            <a:ext cx="1117401" cy="1095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862"/>
              </a:lnSpc>
            </a:pPr>
            <a:r>
              <a:rPr sz="750" b="1" i="0" u="none">
                <a:solidFill>
                  <a:srgbClr val="0284C7"/>
                </a:solidFill>
                <a:latin typeface="Space Grotesk"/>
              </a:rPr>
              <a:t>Reporting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241256" y="4036394"/>
            <a:ext cx="657225" cy="13335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374606" y="4329043"/>
            <a:ext cx="1126926" cy="1095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862"/>
              </a:lnSpc>
            </a:pPr>
            <a:r>
              <a:rPr sz="750" b="1" i="0" u="none">
                <a:solidFill>
                  <a:srgbClr val="0284C7"/>
                </a:solidFill>
                <a:latin typeface="Space Grotesk"/>
              </a:rPr>
              <a:t>Results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077795" y="4172125"/>
            <a:ext cx="104775" cy="10001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292107" y="4121077"/>
            <a:ext cx="1492746" cy="994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712" b="1" i="0" u="none">
                <a:solidFill>
                  <a:srgbClr val="0F172A"/>
                </a:solidFill>
                <a:latin typeface="Plus Jakarta Sans"/>
              </a:rPr>
              <a:t>Improved CAD Quality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92107" y="4230019"/>
            <a:ext cx="1492746" cy="93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sz="637" b="0" i="0" u="none">
                <a:solidFill>
                  <a:srgbClr val="64748B"/>
                </a:solidFill>
                <a:latin typeface="Plus Jakarta Sans"/>
              </a:rPr>
              <a:t>Higher consistency across data.</a:t>
            </a: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037266" y="4172125"/>
            <a:ext cx="104775" cy="10001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0251578" y="4121077"/>
            <a:ext cx="1492746" cy="994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712" b="1" i="0" u="none">
                <a:solidFill>
                  <a:srgbClr val="0F172A"/>
                </a:solidFill>
                <a:latin typeface="Plus Jakarta Sans"/>
              </a:rPr>
              <a:t>Standardized Process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1578" y="4230019"/>
            <a:ext cx="1492746" cy="93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sz="637" b="0" i="0" u="none">
                <a:solidFill>
                  <a:srgbClr val="64748B"/>
                </a:solidFill>
                <a:latin typeface="Plus Jakarta Sans"/>
              </a:rPr>
              <a:t>Repeatable validation runs.</a:t>
            </a:r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087320" y="4857925"/>
            <a:ext cx="85725" cy="100012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292107" y="4806877"/>
            <a:ext cx="1492746" cy="994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712" b="1" i="0" u="none">
                <a:solidFill>
                  <a:srgbClr val="0F172A"/>
                </a:solidFill>
                <a:latin typeface="Plus Jakarta Sans"/>
              </a:rPr>
              <a:t>Faster Resolutions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92107" y="4915819"/>
            <a:ext cx="1492746" cy="93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sz="637" b="0" i="0" u="none">
                <a:solidFill>
                  <a:srgbClr val="64748B"/>
                </a:solidFill>
                <a:latin typeface="Plus Jakarta Sans"/>
              </a:rPr>
              <a:t>Early issue identification.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027741" y="4857925"/>
            <a:ext cx="123825" cy="100012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0251578" y="4806877"/>
            <a:ext cx="1492746" cy="994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712" b="1" i="0" u="none">
                <a:solidFill>
                  <a:srgbClr val="0F172A"/>
                </a:solidFill>
                <a:latin typeface="Plus Jakarta Sans"/>
              </a:rPr>
              <a:t>Reduced Effort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51578" y="4915819"/>
            <a:ext cx="1492746" cy="93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sz="637" b="0" i="0" u="none">
                <a:solidFill>
                  <a:srgbClr val="64748B"/>
                </a:solidFill>
                <a:latin typeface="Plus Jakarta Sans"/>
              </a:rPr>
              <a:t>Lower manual dependency.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068270" y="5543725"/>
            <a:ext cx="123825" cy="100012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292107" y="5492677"/>
            <a:ext cx="1492746" cy="994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712" b="1" i="0" u="none">
                <a:solidFill>
                  <a:srgbClr val="0F172A"/>
                </a:solidFill>
                <a:latin typeface="Plus Jakarta Sans"/>
              </a:rPr>
              <a:t>Reusable Profiles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92107" y="5601619"/>
            <a:ext cx="1492746" cy="93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sz="637" b="0" i="0" u="none">
                <a:solidFill>
                  <a:srgbClr val="64748B"/>
                </a:solidFill>
                <a:latin typeface="Plus Jakarta Sans"/>
              </a:rPr>
              <a:t>Increased workflow efficiency.</a:t>
            </a:r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0037266" y="5543725"/>
            <a:ext cx="104775" cy="100012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251578" y="5492677"/>
            <a:ext cx="1492746" cy="994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712" b="1" i="0" u="none">
                <a:solidFill>
                  <a:srgbClr val="0F172A"/>
                </a:solidFill>
                <a:latin typeface="Plus Jakarta Sans"/>
              </a:rPr>
              <a:t>Better Traceability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51578" y="5601619"/>
            <a:ext cx="1492746" cy="93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33"/>
              </a:lnSpc>
            </a:pPr>
            <a:r>
              <a:rPr sz="637" b="0" i="0" u="none">
                <a:solidFill>
                  <a:srgbClr val="64748B"/>
                </a:solidFill>
                <a:latin typeface="Plus Jakarta Sans"/>
              </a:rPr>
              <a:t>Audit-ready compliance data.</a:t>
            </a:r>
          </a:p>
        </p:txBody>
      </p: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71475" y="1663577"/>
            <a:ext cx="85725" cy="85725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632001" y="1663577"/>
            <a:ext cx="85725" cy="85725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71475" y="1806452"/>
            <a:ext cx="85725" cy="85725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632001" y="1806452"/>
            <a:ext cx="85725" cy="85725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28625" y="4329383"/>
            <a:ext cx="95250" cy="95250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52305" y="5115094"/>
            <a:ext cx="1241226" cy="55245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14350" y="4661770"/>
            <a:ext cx="1184076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 dirty="0">
                <a:solidFill>
                  <a:srgbClr val="475569"/>
                </a:solidFill>
                <a:latin typeface="Plus Jakarta Sans"/>
              </a:rPr>
              <a:t>Create Profile via Profile Manager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4350" y="4763405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 dirty="0">
                <a:solidFill>
                  <a:srgbClr val="475569"/>
                </a:solidFill>
                <a:latin typeface="Plus Jakarta Sans"/>
              </a:rPr>
              <a:t>Define scope &amp; objects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888926" y="4336186"/>
            <a:ext cx="85725" cy="95250"/>
          </a:xfrm>
          <a:prstGeom prst="rect">
            <a:avLst/>
          </a:prstGeom>
        </p:spPr>
      </p:pic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898451" y="5142415"/>
            <a:ext cx="1241226" cy="55245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934592" y="466177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 dirty="0">
                <a:solidFill>
                  <a:srgbClr val="475569"/>
                </a:solidFill>
                <a:latin typeface="Plus Jakarta Sans"/>
              </a:rPr>
              <a:t>Configure quality rules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34592" y="478366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 dirty="0">
                <a:solidFill>
                  <a:srgbClr val="475569"/>
                </a:solidFill>
                <a:latin typeface="Plus Jakarta Sans"/>
              </a:rPr>
              <a:t>Set object parameters</a:t>
            </a:r>
          </a:p>
        </p:txBody>
      </p:sp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339703" y="4336186"/>
            <a:ext cx="95250" cy="95250"/>
          </a:xfrm>
          <a:prstGeom prst="rect">
            <a:avLst/>
          </a:prstGeom>
        </p:spPr>
      </p:pic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349228" y="5142415"/>
            <a:ext cx="1241226" cy="55245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3385369" y="466177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>
                <a:solidFill>
                  <a:srgbClr val="475569"/>
                </a:solidFill>
                <a:latin typeface="Plus Jakarta Sans"/>
              </a:rPr>
              <a:t>Run Quality Checker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85369" y="478366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>
                <a:solidFill>
                  <a:srgbClr val="475569"/>
                </a:solidFill>
                <a:latin typeface="Plus Jakarta Sans"/>
              </a:rPr>
              <a:t>Validate assembly rules</a:t>
            </a:r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790479" y="4336186"/>
            <a:ext cx="104775" cy="95250"/>
          </a:xfrm>
          <a:prstGeom prst="rect">
            <a:avLst/>
          </a:prstGeom>
        </p:spPr>
      </p:pic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800004" y="5142415"/>
            <a:ext cx="1241226" cy="55245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4836145" y="466177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>
                <a:solidFill>
                  <a:srgbClr val="475569"/>
                </a:solidFill>
                <a:latin typeface="Plus Jakarta Sans"/>
              </a:rPr>
              <a:t>Generate detailed reports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36145" y="478366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>
                <a:solidFill>
                  <a:srgbClr val="475569"/>
                </a:solidFill>
                <a:latin typeface="Plus Jakarta Sans"/>
              </a:rPr>
              <a:t>Capture metrics &amp; issues</a:t>
            </a:r>
          </a:p>
        </p:txBody>
      </p:sp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241256" y="4336186"/>
            <a:ext cx="95250" cy="95250"/>
          </a:xfrm>
          <a:prstGeom prst="rect">
            <a:avLst/>
          </a:prstGeom>
        </p:spPr>
      </p:pic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250781" y="5142415"/>
            <a:ext cx="1241226" cy="55245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6286922" y="466177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>
                <a:solidFill>
                  <a:srgbClr val="475569"/>
                </a:solidFill>
                <a:latin typeface="Plus Jakarta Sans"/>
              </a:rPr>
              <a:t>Save results for reference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86922" y="4783660"/>
            <a:ext cx="1184076" cy="1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 u="none">
                <a:solidFill>
                  <a:srgbClr val="475569"/>
                </a:solidFill>
                <a:latin typeface="Plus Jakarta Sans"/>
              </a:rPr>
              <a:t>Traceability tracking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8150" y="466177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8150" y="4763405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 dirty="0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58392" y="466177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58392" y="478366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09169" y="466177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09169" y="478366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59945" y="466177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59945" y="478366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10722" y="466177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210722" y="4783660"/>
            <a:ext cx="571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u="none">
                <a:solidFill>
                  <a:srgbClr val="0284C7"/>
                </a:solidFill>
                <a:latin typeface="Plus Jakarta Sans"/>
              </a:rPr>
              <a:t>•</a:t>
            </a:r>
          </a:p>
        </p:txBody>
      </p:sp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026026" y="695325"/>
            <a:ext cx="4927848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465</Words>
  <Application>Microsoft Office PowerPoint</Application>
  <PresentationFormat>Widescreen</PresentationFormat>
  <Paragraphs>123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Plus Jakarta Sans</vt:lpstr>
      <vt:lpstr>Plus Jakarta Sans Medium</vt:lpstr>
      <vt:lpstr>Plus Jakarta Sans SemiBold</vt:lpstr>
      <vt:lpstr>Space Grotesk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1000097609</dc:creator>
  <cp:keywords/>
  <dc:description>generated using python-pptx</dc:description>
  <cp:lastModifiedBy>Haardik Guha Thakurata</cp:lastModifiedBy>
  <cp:revision>3</cp:revision>
  <dcterms:created xsi:type="dcterms:W3CDTF">2013-01-27T09:14:16Z</dcterms:created>
  <dcterms:modified xsi:type="dcterms:W3CDTF">2026-07-21T16:45:21Z</dcterms:modified>
  <cp:category/>
</cp:coreProperties>
</file>